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dd21c8e-4292-7d78-db07-73f0b2b5991f}">
          <p14:sldIdLst>
            <p14:sldId id="256"/>
            <p14:sldId id="257"/>
          </p14:sldIdLst>
        </p14:section>
        <p14:section name="Contexto" id="{90e60888-cbbd-4744-5bed-fff1bd3c4c8b}">
          <p14:sldIdLst>
            <p14:sldId id="258"/>
          </p14:sldIdLst>
        </p14:section>
        <p14:section name="Gestión" id="{3d2d302f-3056-aeb2-3cec-4058f093b4a3}">
          <p14:sldIdLst>
            <p14:sldId id="259"/>
          </p14:sldIdLst>
        </p14:section>
        <p14:section name="Arquitectura" id="{dfdec837-c0ca-1164-40d9-b143793b242e}">
          <p14:sldIdLst>
            <p14:sldId id="260"/>
          </p14:sldIdLst>
        </p14:section>
        <p14:section name="Pipeline" id="{acde8534-269b-017b-5876-01f9243362af}">
          <p14:sldIdLst>
            <p14:sldId id="261"/>
          </p14:sldIdLst>
        </p14:section>
        <p14:section name="Evidencia" id="{21f91dbe-e400-70ff-cc7f-f535d2420390}">
          <p14:sldIdLst>
            <p14:sldId id="262"/>
          </p14:sldIdLst>
        </p14:section>
        <p14:section name="Calidad" id="{8c61ff90-a61f-691a-0e85-82a385b0439e}">
          <p14:sldIdLst>
            <p14:sldId id="263"/>
          </p14:sldIdLst>
        </p14:section>
        <p14:section name="Finanzas" id="{b6fa6a11-8753-36ae-bdb4-f0cf49585695}">
          <p14:sldIdLst>
            <p14:sldId id="264"/>
          </p14:sldIdLst>
        </p14:section>
        <p14:section name="Recomendación" id="{39e153c9-29d4-803a-b480-0af953862e6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958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3B1958"/>
                </a:solidFill>
                <a:latin typeface="+mj-lt"/>
              </a:rPr>
              <a:t>Error de ATE frente al efecto verdadero (umbral 0,05)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correlacional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Espera prolongada</c:v>
                  </c:pt>
                  <c:pt idx="1">
                    <c:v>Múltiples transferencias</c:v>
                  </c:pt>
                  <c:pt idx="2">
                    <c:v>Error de facturación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0.0562</c:v>
                </c:pt>
                <c:pt idx="1">
                  <c:v>0.0076</c:v>
                </c:pt>
                <c:pt idx="2">
                  <c:v>0.0316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Error causal (DML)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Espera prolongada</c:v>
                  </c:pt>
                  <c:pt idx="1">
                    <c:v>Múltiples transferencias</c:v>
                  </c:pt>
                  <c:pt idx="2">
                    <c:v>Error de facturación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0.0022</c:v>
                </c:pt>
                <c:pt idx="1">
                  <c:v>0.004</c:v>
                </c:pt>
                <c:pt idx="2">
                  <c:v>0.0006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6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7"/>
          <c:min val="0"/>
        </c:scaling>
        <c:delete val="0"/>
        <c:axPos val="l"/>
        <c:majorGridlines>
          <c:spPr>
            <a:ln w="6350" cap="flat">
              <a:solidFill>
                <a:srgbClr val="E8E4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958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3B1958"/>
                </a:solidFill>
                <a:latin typeface="+mj-lt"/>
              </a:rPr>
              <a:t>Latencia extremo a extremo p95 por réplica de 1 vCPU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(ms)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.0&quot; m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8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8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7A1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100 llamadas · doc.</c:v>
                  </c:pt>
                  <c:pt idx="1">
                    <c:v>100 llamadas · repro.</c:v>
                  </c:pt>
                  <c:pt idx="2">
                    <c:v>180 · doc.</c:v>
                  </c:pt>
                  <c:pt idx="3">
                    <c:v>180 · repro. mejor</c:v>
                  </c:pt>
                  <c:pt idx="4">
                    <c:v>180 · repro. mediana</c:v>
                  </c:pt>
                  <c:pt idx="5">
                    <c:v>180 · repro. peor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32</c:v>
                </c:pt>
                <c:pt idx="2">
                  <c:v>23.1</c:v>
                </c:pt>
                <c:pt idx="3">
                  <c:v>62.8</c:v>
                </c:pt>
                <c:pt idx="4">
                  <c:v>524</c:v>
                </c:pt>
                <c:pt idx="5">
                  <c:v>2827.2</c:v>
                </c:pt>
              </c:numCache>
            </c:numRef>
          </c:val>
        </c:ser>
        <c:dLbls>
          <c:numFmt formatCode="#,##0.0&quot; ms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6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958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3B1958"/>
                </a:solidFill>
                <a:latin typeface="+mj-lt"/>
              </a:rPr>
              <a:t>Flujo de caja acumulado (£)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Optimista</c:v>
                </c:pt>
              </c:strCache>
            </c:strRef>
          </c:tx>
          <c:spPr>
            <a:solidFill>
              <a:srgbClr val="2E7D4F"/>
            </a:solidFill>
            <a:ln w="25400" cap="flat">
              <a:solidFill>
                <a:srgbClr val="2E7D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4F"/>
              </a:solidFill>
              <a:ln w="9525" cap="flat">
                <a:solidFill>
                  <a:srgbClr val="2E7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-17618</c:v>
                </c:pt>
                <c:pt idx="1">
                  <c:v>-39270</c:v>
                </c:pt>
                <c:pt idx="2">
                  <c:v>-49867</c:v>
                </c:pt>
                <c:pt idx="3">
                  <c:v>-49482</c:v>
                </c:pt>
                <c:pt idx="4">
                  <c:v>-46430</c:v>
                </c:pt>
                <c:pt idx="5">
                  <c:v>-40747</c:v>
                </c:pt>
                <c:pt idx="6">
                  <c:v>-32398</c:v>
                </c:pt>
                <c:pt idx="7">
                  <c:v>-21381</c:v>
                </c:pt>
                <c:pt idx="8">
                  <c:v>-7734</c:v>
                </c:pt>
                <c:pt idx="9">
                  <c:v>8581</c:v>
                </c:pt>
                <c:pt idx="10">
                  <c:v>27562</c:v>
                </c:pt>
                <c:pt idx="11">
                  <c:v>49175</c:v>
                </c:pt>
                <c:pt idx="12">
                  <c:v>70788</c:v>
                </c:pt>
                <c:pt idx="13">
                  <c:v>92400</c:v>
                </c:pt>
                <c:pt idx="14">
                  <c:v>114013</c:v>
                </c:pt>
                <c:pt idx="15">
                  <c:v>135626</c:v>
                </c:pt>
                <c:pt idx="16">
                  <c:v>157239</c:v>
                </c:pt>
                <c:pt idx="17">
                  <c:v>178851</c:v>
                </c:pt>
                <c:pt idx="18">
                  <c:v>200464</c:v>
                </c:pt>
                <c:pt idx="19">
                  <c:v>222077</c:v>
                </c:pt>
                <c:pt idx="20">
                  <c:v>243689</c:v>
                </c:pt>
                <c:pt idx="21">
                  <c:v>265302</c:v>
                </c:pt>
                <c:pt idx="22">
                  <c:v>286915</c:v>
                </c:pt>
                <c:pt idx="23">
                  <c:v>308528</c:v>
                </c:pt>
                <c:pt idx="24">
                  <c:v>330140</c:v>
                </c:pt>
                <c:pt idx="25">
                  <c:v>351753</c:v>
                </c:pt>
                <c:pt idx="26">
                  <c:v>373366</c:v>
                </c:pt>
                <c:pt idx="27">
                  <c:v>394978</c:v>
                </c:pt>
                <c:pt idx="28">
                  <c:v>416591</c:v>
                </c:pt>
                <c:pt idx="29">
                  <c:v>438204</c:v>
                </c:pt>
                <c:pt idx="30">
                  <c:v>459817</c:v>
                </c:pt>
                <c:pt idx="31">
                  <c:v>481429</c:v>
                </c:pt>
                <c:pt idx="32">
                  <c:v>503042</c:v>
                </c:pt>
                <c:pt idx="33">
                  <c:v>524655</c:v>
                </c:pt>
                <c:pt idx="34">
                  <c:v>546267</c:v>
                </c:pt>
                <c:pt idx="35">
                  <c:v>567880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3B1958"/>
            </a:solidFill>
            <a:ln w="25400" cap="flat">
              <a:solidFill>
                <a:srgbClr val="3B195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B1958"/>
              </a:solidFill>
              <a:ln w="9525" cap="flat">
                <a:solidFill>
                  <a:srgbClr val="3B19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-22800</c:v>
                </c:pt>
                <c:pt idx="1">
                  <c:v>-50820</c:v>
                </c:pt>
                <c:pt idx="2">
                  <c:v>-64533</c:v>
                </c:pt>
                <c:pt idx="3">
                  <c:v>-65924</c:v>
                </c:pt>
                <c:pt idx="4">
                  <c:v>-66159</c:v>
                </c:pt>
                <c:pt idx="5">
                  <c:v>-65239</c:v>
                </c:pt>
                <c:pt idx="6">
                  <c:v>-63163</c:v>
                </c:pt>
                <c:pt idx="7">
                  <c:v>-59974</c:v>
                </c:pt>
                <c:pt idx="8">
                  <c:v>-55629</c:v>
                </c:pt>
                <c:pt idx="9">
                  <c:v>-50128</c:v>
                </c:pt>
                <c:pt idx="10">
                  <c:v>-43472</c:v>
                </c:pt>
                <c:pt idx="11">
                  <c:v>-35661</c:v>
                </c:pt>
                <c:pt idx="12">
                  <c:v>-26736</c:v>
                </c:pt>
                <c:pt idx="13">
                  <c:v>-16656</c:v>
                </c:pt>
                <c:pt idx="14">
                  <c:v>-5420</c:v>
                </c:pt>
                <c:pt idx="15">
                  <c:v>5816</c:v>
                </c:pt>
                <c:pt idx="16">
                  <c:v>17052</c:v>
                </c:pt>
                <c:pt idx="17">
                  <c:v>28288</c:v>
                </c:pt>
                <c:pt idx="18">
                  <c:v>39524</c:v>
                </c:pt>
                <c:pt idx="19">
                  <c:v>50760</c:v>
                </c:pt>
                <c:pt idx="20">
                  <c:v>61996</c:v>
                </c:pt>
                <c:pt idx="21">
                  <c:v>73232</c:v>
                </c:pt>
                <c:pt idx="22">
                  <c:v>84467</c:v>
                </c:pt>
                <c:pt idx="23">
                  <c:v>95703</c:v>
                </c:pt>
                <c:pt idx="24">
                  <c:v>106939</c:v>
                </c:pt>
                <c:pt idx="25">
                  <c:v>118175</c:v>
                </c:pt>
                <c:pt idx="26">
                  <c:v>129411</c:v>
                </c:pt>
                <c:pt idx="27">
                  <c:v>140647</c:v>
                </c:pt>
                <c:pt idx="28">
                  <c:v>151883</c:v>
                </c:pt>
                <c:pt idx="29">
                  <c:v>163119</c:v>
                </c:pt>
                <c:pt idx="30">
                  <c:v>174355</c:v>
                </c:pt>
                <c:pt idx="31">
                  <c:v>185591</c:v>
                </c:pt>
                <c:pt idx="32">
                  <c:v>196827</c:v>
                </c:pt>
                <c:pt idx="33">
                  <c:v>208062</c:v>
                </c:pt>
                <c:pt idx="34">
                  <c:v>219298</c:v>
                </c:pt>
                <c:pt idx="35">
                  <c:v>230534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Pesimista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</c:lvl>
              </c:multiLvlStrCache>
            </c:multiLvlStrRef>
          </c:cat>
          <c:val>
            <c:numRef>
              <c:f>Sheet1!$D$2:$D$37</c:f>
              <c:numCache>
                <c:formatCode>General</c:formatCode>
                <c:ptCount val="36"/>
                <c:pt idx="0">
                  <c:v>-40158</c:v>
                </c:pt>
                <c:pt idx="1">
                  <c:v>-89512</c:v>
                </c:pt>
                <c:pt idx="2">
                  <c:v>-113667</c:v>
                </c:pt>
                <c:pt idx="3">
                  <c:v>-113667</c:v>
                </c:pt>
                <c:pt idx="4">
                  <c:v>-113667</c:v>
                </c:pt>
                <c:pt idx="5">
                  <c:v>-113667</c:v>
                </c:pt>
                <c:pt idx="6">
                  <c:v>-118950</c:v>
                </c:pt>
                <c:pt idx="7">
                  <c:v>-124028</c:v>
                </c:pt>
                <c:pt idx="8">
                  <c:v>-128902</c:v>
                </c:pt>
                <c:pt idx="9">
                  <c:v>-133571</c:v>
                </c:pt>
                <c:pt idx="10">
                  <c:v>-138036</c:v>
                </c:pt>
                <c:pt idx="11">
                  <c:v>-142295</c:v>
                </c:pt>
                <c:pt idx="12">
                  <c:v>-146350</c:v>
                </c:pt>
                <c:pt idx="13">
                  <c:v>-150200</c:v>
                </c:pt>
                <c:pt idx="14">
                  <c:v>-153846</c:v>
                </c:pt>
                <c:pt idx="15">
                  <c:v>-157334</c:v>
                </c:pt>
                <c:pt idx="16">
                  <c:v>-160618</c:v>
                </c:pt>
                <c:pt idx="17">
                  <c:v>-163698</c:v>
                </c:pt>
                <c:pt idx="18">
                  <c:v>-166572</c:v>
                </c:pt>
                <c:pt idx="19">
                  <c:v>-169242</c:v>
                </c:pt>
                <c:pt idx="20">
                  <c:v>-171707</c:v>
                </c:pt>
                <c:pt idx="21">
                  <c:v>-173968</c:v>
                </c:pt>
                <c:pt idx="22">
                  <c:v>-176023</c:v>
                </c:pt>
                <c:pt idx="23">
                  <c:v>-177874</c:v>
                </c:pt>
                <c:pt idx="24">
                  <c:v>-179725</c:v>
                </c:pt>
                <c:pt idx="25">
                  <c:v>-181576</c:v>
                </c:pt>
                <c:pt idx="26">
                  <c:v>-183427</c:v>
                </c:pt>
                <c:pt idx="27">
                  <c:v>-185278</c:v>
                </c:pt>
                <c:pt idx="28">
                  <c:v>-187129</c:v>
                </c:pt>
                <c:pt idx="29">
                  <c:v>-188980</c:v>
                </c:pt>
                <c:pt idx="30">
                  <c:v>-190831</c:v>
                </c:pt>
                <c:pt idx="31">
                  <c:v>-192682</c:v>
                </c:pt>
                <c:pt idx="32">
                  <c:v>-194533</c:v>
                </c:pt>
                <c:pt idx="33">
                  <c:v>-196384</c:v>
                </c:pt>
                <c:pt idx="34">
                  <c:v>-198235</c:v>
                </c:pt>
                <c:pt idx="35">
                  <c:v>-200086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6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12 minutos: 30 s de apertura y aproximadamente 1 min 20 s por diapositiva de contenido.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en cuatro bloques, como pide la pauta: gestión, arquitectura C4, calidad SQA y evaluación ERV.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80"/>
                </a:solidFill>
              </a:rPr>
              <a:t>Informe ERV · Vox-Causal AI · Alloxentric SpA · GPI 2026-II · Grupo N.º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3B1958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3B19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C8F0"/>
                </a:solidFill>
              </a:rPr>
              <a:t>INFORME ERV · CASO DE ESTUDIO PIA · GPI 2026-II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Integración de Vox-Causal AI en la plataforma corporativa de Alloxentric SpA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B183"/>
                </a:solidFill>
              </a:rPr>
              <a:t>Evaluación de Rentabilidad y Viabilidad Técnica y Económica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10515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Cliente corporativo: Alloxentric SpA (Londres, Reino Unido) · Sección 411 · Grupo N.º 1</a:t>
            </a:r>
            <a:endParaRPr lang="en-US" sz="1600" dirty="0"/>
          </a:p>
        </p:txBody>
      </p:sp>
      <p:sp>
        <p:nvSpPr>
          <p:cNvPr id="6" name="integrante Ignacio Ortega"/>
          <p:cNvSpPr/>
          <p:nvPr/>
        </p:nvSpPr>
        <p:spPr>
          <a:xfrm>
            <a:off x="64008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4B2370"/>
          </a:solidFill>
          <a:ln w="12700">
            <a:solidFill>
              <a:srgbClr val="4B23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Ignacio Ortega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8F0"/>
                </a:solidFill>
              </a:rPr>
              <a:t>Rol RACI rotativo</a:t>
            </a:r>
            <a:endParaRPr lang="en-US" sz="1200" dirty="0"/>
          </a:p>
        </p:txBody>
      </p:sp>
      <p:sp>
        <p:nvSpPr>
          <p:cNvPr id="9" name="integrante Joaquín Apablaza"/>
          <p:cNvSpPr/>
          <p:nvPr/>
        </p:nvSpPr>
        <p:spPr>
          <a:xfrm>
            <a:off x="338328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4B2370"/>
          </a:solidFill>
          <a:ln w="12700">
            <a:solidFill>
              <a:srgbClr val="4B23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Joaquín Apablaza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8F0"/>
                </a:solidFill>
              </a:rPr>
              <a:t>Rol RACI rotativo</a:t>
            </a:r>
            <a:endParaRPr lang="en-US" sz="1200" dirty="0"/>
          </a:p>
        </p:txBody>
      </p:sp>
      <p:sp>
        <p:nvSpPr>
          <p:cNvPr id="12" name="integrante Camilo Moya"/>
          <p:cNvSpPr/>
          <p:nvPr/>
        </p:nvSpPr>
        <p:spPr>
          <a:xfrm>
            <a:off x="612648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4B2370"/>
          </a:solidFill>
          <a:ln w="12700">
            <a:solidFill>
              <a:srgbClr val="4B23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Camilo Moya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8F0"/>
                </a:solidFill>
              </a:rPr>
              <a:t>Rol RACI rotativo</a:t>
            </a:r>
            <a:endParaRPr lang="en-US" sz="1200" dirty="0"/>
          </a:p>
        </p:txBody>
      </p:sp>
      <p:sp>
        <p:nvSpPr>
          <p:cNvPr id="15" name="integrante Lucas Mora"/>
          <p:cNvSpPr/>
          <p:nvPr/>
        </p:nvSpPr>
        <p:spPr>
          <a:xfrm>
            <a:off x="886968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4B2370"/>
          </a:solidFill>
          <a:ln w="12700">
            <a:solidFill>
              <a:srgbClr val="4B23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Lucas Mora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D9C8F0"/>
                </a:solidFill>
              </a:rPr>
              <a:t>Rol RACI rotativo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892040"/>
            <a:ext cx="107899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Roles RACI: Líder (A), Arquitecto/a MLOps, Científico/a causal, Analista financiero y QA/documentación, asignados por actividad según la matriz propuesta del Informe ERV (cap. 8). Las responsabilidades rotan entre integrantes.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9C8F0"/>
                </a:solidFill>
              </a:rPr>
              <a:t>Docente: Dr. Oscar Eduardo Magna Veloso · UTEM · Exposición 29 de octubre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1958"/>
                </a:solidFill>
              </a:rPr>
              <a:t>Tabla de contenido</a:t>
            </a:r>
            <a:endParaRPr lang="en-US" sz="3000" dirty="0"/>
          </a:p>
        </p:txBody>
      </p:sp>
      <p:sp>
        <p:nvSpPr>
          <p:cNvPr id="3" name="Gestión del proyecto"/>
          <p:cNvSpPr/>
          <p:nvPr/>
        </p:nvSpPr>
        <p:spPr>
          <a:xfrm>
            <a:off x="457200" y="12344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4" name="cabecera Gestión del proyecto"/>
          <p:cNvSpPr/>
          <p:nvPr/>
        </p:nvSpPr>
        <p:spPr>
          <a:xfrm>
            <a:off x="457200" y="123444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Gestión del proyecto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251460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1 · Contexto y problema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2 · Gestión y control EVM</a:t>
            </a:r>
            <a:endParaRPr lang="en-US" sz="1500" dirty="0"/>
          </a:p>
        </p:txBody>
      </p:sp>
      <p:sp>
        <p:nvSpPr>
          <p:cNvPr id="7" name="Arquitectura C4"/>
          <p:cNvSpPr/>
          <p:nvPr/>
        </p:nvSpPr>
        <p:spPr>
          <a:xfrm>
            <a:off x="3291840" y="12344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8" name="cabecera Arquitectura C4"/>
          <p:cNvSpPr/>
          <p:nvPr/>
        </p:nvSpPr>
        <p:spPr>
          <a:xfrm>
            <a:off x="3291840" y="123444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Arquitectura C4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057400"/>
            <a:ext cx="251460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3 · Arquitectura C4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4 · Pipeline MLOps e incidente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5 · Evidencia y repositorio</a:t>
            </a:r>
            <a:endParaRPr lang="en-US" sz="1500" dirty="0"/>
          </a:p>
        </p:txBody>
      </p:sp>
      <p:sp>
        <p:nvSpPr>
          <p:cNvPr id="11" name="Calidad SQA"/>
          <p:cNvSpPr/>
          <p:nvPr/>
        </p:nvSpPr>
        <p:spPr>
          <a:xfrm>
            <a:off x="6126480" y="12344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12" name="cabecera Calidad SQA"/>
          <p:cNvSpPr/>
          <p:nvPr/>
        </p:nvSpPr>
        <p:spPr>
          <a:xfrm>
            <a:off x="6126480" y="123444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Calidad SQA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57400"/>
            <a:ext cx="251460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6 · Métricas objetivas SW/IA</a:t>
            </a:r>
            <a:endParaRPr lang="en-US" sz="1500" dirty="0"/>
          </a:p>
        </p:txBody>
      </p:sp>
      <p:sp>
        <p:nvSpPr>
          <p:cNvPr id="15" name="Evaluación ERV"/>
          <p:cNvSpPr/>
          <p:nvPr/>
        </p:nvSpPr>
        <p:spPr>
          <a:xfrm>
            <a:off x="8961120" y="123444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16" name="cabecera Evaluación ERV"/>
          <p:cNvSpPr/>
          <p:nvPr/>
        </p:nvSpPr>
        <p:spPr>
          <a:xfrm>
            <a:off x="8961120" y="123444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0" y="1234440"/>
            <a:ext cx="26974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Evaluación ERV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057400"/>
            <a:ext cx="251460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7 · Evaluación financiera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8 · Impacto y recomendación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1958"/>
                </a:solidFill>
              </a:rPr>
              <a:t>1 · Contexto y problema: correlación no es causa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Alloxentric (Londres) procesa millones de interacciones diarias en Azure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Los modelos actuales detectan tono o sentimiento, no la causa de la insatisfacción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Vox-Causal AI: prosodia de la voz del cliente + modelo causal estructural (SCM/DAG) en la llamada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Decisión del directorio: ¿financiar e integrar el módulo?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852160" y="1097280"/>
          <a:ext cx="5943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4937760"/>
            <a:ext cx="5943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680"/>
                </a:solidFill>
              </a:rPr>
              <a:t>Datos sintéticos de efecto conocido, 50.000 llamadas (documentado por el equipo). La correlación incumple el KPI en espera prolongada e invierte el orden de las causas.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51206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2A86"/>
                </a:solidFill>
              </a:rPr>
              <a:t>Por qué IA causal: estima el efecto de intervenir (ATE), ajustando por confusores, y explica qué acción tomar.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1958"/>
                </a:solidFill>
              </a:rPr>
              <a:t>2 · Gestión y control EVM (%)</a:t>
            </a:r>
            <a:endParaRPr lang="en-US" sz="3000" dirty="0"/>
          </a:p>
        </p:txBody>
      </p:sp>
      <p:pic>
        <p:nvPicPr>
          <p:cNvPr id="3" name="Image 0" descr="Curva S del proyecto de integración Vox-Causa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6766560" cy="3456432"/>
          </a:xfrm>
          <a:prstGeom prst="rect">
            <a:avLst/>
          </a:prstGeom>
        </p:spPr>
      </p:pic>
      <p:pic>
        <p:nvPicPr>
          <p:cNvPr id="4" name="Image 1" descr="Cuadrante SPI por CPI del proyecto de integració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52360" y="1051560"/>
            <a:ext cx="4279392" cy="3474720"/>
          </a:xfrm>
          <a:prstGeom prst="rect">
            <a:avLst/>
          </a:prstGeom>
        </p:spPr>
      </p:pic>
      <p:sp>
        <p:nvSpPr>
          <p:cNvPr id="5" name="dato SPI (EV/PV): adelantado"/>
          <p:cNvSpPr/>
          <p:nvPr/>
        </p:nvSpPr>
        <p:spPr>
          <a:xfrm>
            <a:off x="457200" y="4663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4709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4F"/>
                </a:solidFill>
              </a:rPr>
              <a:t>1,09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2852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SPI (EV/PV): adelantado</a:t>
            </a:r>
            <a:endParaRPr lang="en-US" sz="1100" dirty="0"/>
          </a:p>
        </p:txBody>
      </p:sp>
      <p:sp>
        <p:nvSpPr>
          <p:cNvPr id="8" name="dato CPI (EV/AC): sobre costo"/>
          <p:cNvSpPr/>
          <p:nvPr/>
        </p:nvSpPr>
        <p:spPr>
          <a:xfrm>
            <a:off x="3291840" y="4663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291840" y="4709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A1F"/>
                </a:solidFill>
              </a:rPr>
              <a:t>0,91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52852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CPI (EV/AC): sobre costo</a:t>
            </a:r>
            <a:endParaRPr lang="en-US" sz="1100" dirty="0"/>
          </a:p>
        </p:txBody>
      </p:sp>
      <p:sp>
        <p:nvSpPr>
          <p:cNvPr id="11" name="dato EAC (BAC 800 HH)"/>
          <p:cNvSpPr/>
          <p:nvPr/>
        </p:nvSpPr>
        <p:spPr>
          <a:xfrm>
            <a:off x="6126480" y="4663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126480" y="4709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958"/>
                </a:solidFill>
              </a:rPr>
              <a:t>875 HH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52852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EAC (BAC 800 HH)</a:t>
            </a:r>
            <a:endParaRPr lang="en-US" sz="1100" dirty="0"/>
          </a:p>
        </p:txBody>
      </p:sp>
      <p:sp>
        <p:nvSpPr>
          <p:cNvPr id="14" name="dato 80 HH cubren el desvío de 75 HH"/>
          <p:cNvSpPr/>
          <p:nvPr/>
        </p:nvSpPr>
        <p:spPr>
          <a:xfrm>
            <a:off x="8961120" y="466344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961120" y="47091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2A86"/>
                </a:solidFill>
              </a:rPr>
              <a:t>Reserva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9052560" y="52852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80 HH cubren el desvío de 75 HH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5806440"/>
            <a:ext cx="113385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6680"/>
                </a:solidFill>
              </a:rPr>
              <a:t>Proyecto de integración del caso (800 HH, 12 semanas), corte semana 6. PV: línea base; EV: avance estimado desde la PoC; AC: SIMULADO para el ejercicio académico. Cuadrante IV. Acción: congelar alcance Azure/seguridad y aprobar la reserva.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1958"/>
                </a:solidFill>
              </a:rPr>
              <a:t>3 · Arquitectura C4: dos caminos aislados en Azure UK South</a:t>
            </a:r>
            <a:endParaRPr lang="en-US" sz="3000" dirty="0"/>
          </a:p>
        </p:txBody>
      </p:sp>
      <p:sp>
        <p:nvSpPr>
          <p:cNvPr id="3" name="Nivel 1 · Contexto"/>
          <p:cNvSpPr/>
          <p:nvPr/>
        </p:nvSpPr>
        <p:spPr>
          <a:xfrm>
            <a:off x="457200" y="109728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pic>
        <p:nvPicPr>
          <p:cNvPr id="4" name="Image 0" descr="Nivel 1 · Context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3429000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429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1958"/>
                </a:solidFill>
              </a:rPr>
              <a:t>Nivel 1 · Contexto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38928"/>
            <a:ext cx="3429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680"/>
                </a:solidFill>
              </a:rPr>
              <a:t>Telefonía, operador, supervisor, MLOps, CRM, Entra ID, OpenAI</a:t>
            </a:r>
            <a:endParaRPr lang="en-US" sz="1200" dirty="0"/>
          </a:p>
        </p:txBody>
      </p:sp>
      <p:sp>
        <p:nvSpPr>
          <p:cNvPr id="7" name="Nivel 2 · Contenedores"/>
          <p:cNvSpPr/>
          <p:nvPr/>
        </p:nvSpPr>
        <p:spPr>
          <a:xfrm>
            <a:off x="4251960" y="109728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pic>
        <p:nvPicPr>
          <p:cNvPr id="8" name="Image 1" descr="Nivel 2 · Contenedore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188720"/>
            <a:ext cx="3429000" cy="35661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43400" y="4800600"/>
            <a:ext cx="3429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1958"/>
                </a:solidFill>
              </a:rPr>
              <a:t>Nivel 2 · Contenedores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343400" y="5138928"/>
            <a:ext cx="3429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680"/>
                </a:solidFill>
              </a:rPr>
              <a:t>inference_api (cae-rt) y jobs batch (cae-batch), Service Bus de una vía</a:t>
            </a:r>
            <a:endParaRPr lang="en-US" sz="1200" dirty="0"/>
          </a:p>
        </p:txBody>
      </p:sp>
      <p:sp>
        <p:nvSpPr>
          <p:cNvPr id="11" name="Nivel 3 · Componentes"/>
          <p:cNvSpPr/>
          <p:nvPr/>
        </p:nvSpPr>
        <p:spPr>
          <a:xfrm>
            <a:off x="8046720" y="109728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pic>
        <p:nvPicPr>
          <p:cNvPr id="12" name="Image 2" descr="Nivel 3 · Componente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1188720"/>
            <a:ext cx="3429000" cy="3566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38160" y="4800600"/>
            <a:ext cx="3429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1958"/>
                </a:solidFill>
              </a:rPr>
              <a:t>Nivel 3 · Componentes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138160" y="5138928"/>
            <a:ext cx="3429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680"/>
                </a:solidFill>
              </a:rPr>
              <a:t>ws_handler, stream, scm_runtime, model_store, privacy, sas, events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5806440"/>
            <a:ext cx="11338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2A86"/>
                </a:solidFill>
              </a:rPr>
              <a:t>Stack: Python 3.12 · FastAPI + WebSocket · NumPy · DoWhy/EconML · Container Apps · Service Bus · Blob (User Delegation SAS) · Azure OpenAI · Key Vault · Log Analytics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1958"/>
                </a:solidFill>
              </a:rPr>
              <a:t>4 · Pipeline MLOps e incidente de latencia</a:t>
            </a:r>
            <a:endParaRPr lang="en-US" sz="3000" dirty="0"/>
          </a:p>
        </p:txBody>
      </p:sp>
      <p:pic>
        <p:nvPicPr>
          <p:cNvPr id="3" name="Image 0" descr="Pipeline MLOps de Vox-Causal AI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3749040" cy="5257800"/>
          </a:xfrm>
          <a:prstGeom prst="rect">
            <a:avLst/>
          </a:prstGeom>
        </p:spPr>
      </p:pic>
      <p:sp>
        <p:nvSpPr>
          <p:cNvPr id="4" name="Camino caliente"/>
          <p:cNvSpPr/>
          <p:nvPr/>
        </p:nvSpPr>
        <p:spPr>
          <a:xfrm>
            <a:off x="4434840" y="109728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0" y="1143000"/>
            <a:ext cx="1828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7A1F"/>
                </a:solidFill>
              </a:rPr>
              <a:t>Camino caliente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143000"/>
            <a:ext cx="5257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1F2E"/>
                </a:solidFill>
              </a:rPr>
              <a:t>Audio del cliente por WSS → ventana 1 s, salto 500 ms → SCM ya ajustado con NumPy → causa raíz al operador</a:t>
            </a:r>
            <a:endParaRPr lang="en-US" sz="1300" dirty="0"/>
          </a:p>
        </p:txBody>
      </p:sp>
      <p:sp>
        <p:nvSpPr>
          <p:cNvPr id="7" name="Asíncrono"/>
          <p:cNvSpPr/>
          <p:nvPr/>
        </p:nvSpPr>
        <p:spPr>
          <a:xfrm>
            <a:off x="4434840" y="2121408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2167128"/>
            <a:ext cx="1828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78D4"/>
                </a:solidFill>
              </a:rPr>
              <a:t>Asíncrono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167128"/>
            <a:ext cx="5257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1F2E"/>
                </a:solidFill>
              </a:rPr>
              <a:t>call.closed por Service Bus (una vía, con outbox) → explicación con Azure OpenAI o plantilla</a:t>
            </a:r>
            <a:endParaRPr lang="en-US" sz="1300" dirty="0"/>
          </a:p>
        </p:txBody>
      </p:sp>
      <p:sp>
        <p:nvSpPr>
          <p:cNvPr id="10" name="Offline"/>
          <p:cNvSpPr/>
          <p:nvPr/>
        </p:nvSpPr>
        <p:spPr>
          <a:xfrm>
            <a:off x="4434840" y="3145536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3191256"/>
            <a:ext cx="1828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4F"/>
                </a:solidFill>
              </a:rPr>
              <a:t>Offline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191256"/>
            <a:ext cx="5257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1F2E"/>
                </a:solidFill>
              </a:rPr>
              <a:t>DoWhy + EconML → refutaciones → gate ATE ≤ 0,05 → modelo aprobado (SHA-256) en la imagen de la API</a:t>
            </a:r>
            <a:endParaRPr lang="en-US" sz="1300" dirty="0"/>
          </a:p>
        </p:txBody>
      </p:sp>
      <p:sp>
        <p:nvSpPr>
          <p:cNvPr id="13" name="resolucion incidente"/>
          <p:cNvSpPr/>
          <p:nvPr/>
        </p:nvSpPr>
        <p:spPr>
          <a:xfrm>
            <a:off x="4434840" y="4251960"/>
            <a:ext cx="7315200" cy="2011680"/>
          </a:xfrm>
          <a:prstGeom prst="roundRect">
            <a:avLst>
              <a:gd name="adj" fmla="val 3636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4297680"/>
            <a:ext cx="70408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1958"/>
                </a:solidFill>
              </a:rPr>
              <a:t>Resolución del incidente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663440"/>
            <a:ext cx="70408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F2E"/>
                </a:solidFill>
              </a:rPr>
              <a:t>Nada lento en la ruta en vivo: colas, LLM y estimación causal quedan fuera (servidor p95 2,9 ms, reproducido)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F2E"/>
                </a:solidFill>
              </a:rPr>
              <a:t>Admisión de 180 sesiones por réplica y autoescalado hasta 10 réplicas (N+1)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F2E"/>
                </a:solidFill>
              </a:rPr>
              <a:t>SAS solo HTTPS, solo lectura, 5 min; TLS 1.2; seudonimización HMAC; canal del operador rechazado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F2E"/>
                </a:solidFill>
              </a:rPr>
              <a:t>KPI oficial &lt; 250 ms; meta interna de la PoC &lt; 200 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1958"/>
                </a:solidFill>
              </a:rPr>
              <a:t>5 · Evidencia y repositorio</a:t>
            </a:r>
            <a:endParaRPr lang="en-US" sz="3000" dirty="0"/>
          </a:p>
        </p:txBody>
      </p:sp>
      <p:sp>
        <p:nvSpPr>
          <p:cNvPr id="3" name="arbol"/>
          <p:cNvSpPr/>
          <p:nvPr/>
        </p:nvSpPr>
        <p:spPr>
          <a:xfrm>
            <a:off x="457200" y="1097280"/>
            <a:ext cx="4754880" cy="5120640"/>
          </a:xfrm>
          <a:prstGeom prst="roundRect">
            <a:avLst>
              <a:gd name="adj" fmla="val 1538"/>
            </a:avLst>
          </a:prstGeom>
          <a:solidFill>
            <a:srgbClr val="1F1F2E"/>
          </a:solidFill>
          <a:ln w="12700">
            <a:solidFill>
              <a:srgbClr val="1F1F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4480560" cy="4937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DE7F6"/>
                </a:solidFill>
              </a:rPr>
              <a:t>poc/vox-causal/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7F6"/>
                </a:solidFill>
              </a:rPr>
              <a:t>  libs/voxfeatures/        rasgos compartidos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7F6"/>
                </a:solidFill>
              </a:rPr>
              <a:t>  services/inference_api/  camino caliente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7F6"/>
                </a:solidFill>
              </a:rPr>
              <a:t>  services/batch_pipeline/ camino frío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7F6"/>
                </a:solidFill>
              </a:rPr>
              <a:t>  tests/ unit · integration · batch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7F6"/>
                </a:solidFill>
              </a:rPr>
              <a:t>         · architecture · trazabilidad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7F6"/>
                </a:solidFill>
              </a:rPr>
              <a:t>  bench/ws_load.py         carga WebSocket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7F6"/>
                </a:solidFill>
              </a:rPr>
              <a:t>  deploy/azure/            deploy · verify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7F6"/>
                </a:solidFill>
              </a:rPr>
              <a:t>  ci/vox-causal-ci.yml     lint, pruebas, imágenes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7F6"/>
                </a:solidFill>
              </a:rPr>
              <a:t>  docs/EVIDENCIA.md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DE7F6"/>
                </a:solidFill>
              </a:rPr>
              <a:t>docs/erv/  ← Informe ERV y presentación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97280"/>
          <a:ext cx="6309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377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Evidencia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9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95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Código, pruebas y benchmark de la PoC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Revisado y ejecutado localmente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 pruebas · 96 % cobertura · Ruff 0 (versión Entrega_Parte2)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Reproducido 114/114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51 afirmaciones de diagramas verificadas contra el código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Reproducido 51/51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Despliegue y verificación en Azure (deploy.sh, verify.sh)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 ejecutado: sin autorización de gasto cloud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CI .github/workflows/vox-causal-ci.yml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Configurado; aún no ejecutado en GitHub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Informe y presentación en /docs/erv/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Preparados; sin commit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0" y="5394960"/>
            <a:ext cx="6309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680"/>
                </a:solidFill>
              </a:rPr>
              <a:t>Repositorio del grupo: Nacho880/Proyecto-GPI. La PoC se mantiene aislada de TryAIGap.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1958"/>
                </a:solidFill>
              </a:rPr>
              <a:t>6 · Métricas objetivas de software e IA</a:t>
            </a:r>
            <a:endParaRPr lang="en-US" sz="3000" dirty="0"/>
          </a:p>
        </p:txBody>
      </p:sp>
      <p:sp>
        <p:nvSpPr>
          <p:cNvPr id="3" name="dato Cobertura (reproducida)"/>
          <p:cNvSpPr/>
          <p:nvPr/>
        </p:nvSpPr>
        <p:spPr>
          <a:xfrm>
            <a:off x="457200" y="109728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4F"/>
                </a:solidFill>
              </a:rPr>
              <a:t>96 %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Cobertura (reproducida)</a:t>
            </a:r>
            <a:endParaRPr lang="en-US" sz="1100" dirty="0"/>
          </a:p>
        </p:txBody>
      </p:sp>
      <p:sp>
        <p:nvSpPr>
          <p:cNvPr id="6" name="dato Error ATE máx. (reproducido)"/>
          <p:cNvSpPr/>
          <p:nvPr/>
        </p:nvSpPr>
        <p:spPr>
          <a:xfrm>
            <a:off x="2743200" y="109728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1430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4F"/>
                </a:solidFill>
              </a:rPr>
              <a:t>0,0040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Error ATE máx. (reproducido)</a:t>
            </a:r>
            <a:endParaRPr lang="en-US" sz="1100" dirty="0"/>
          </a:p>
        </p:txBody>
      </p:sp>
      <p:sp>
        <p:nvSpPr>
          <p:cNvPr id="9" name="dato Servidor p95 (reproducido)"/>
          <p:cNvSpPr/>
          <p:nvPr/>
        </p:nvSpPr>
        <p:spPr>
          <a:xfrm>
            <a:off x="5029200" y="109728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1430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4F"/>
                </a:solidFill>
              </a:rPr>
              <a:t>2,9 ms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Servidor p95 (reproducido)</a:t>
            </a:r>
            <a:endParaRPr lang="en-US" sz="1100" dirty="0"/>
          </a:p>
        </p:txBody>
      </p:sp>
      <p:sp>
        <p:nvSpPr>
          <p:cNvPr id="12" name="dato Deuda técnica (Ruff 0; radon A 2,66)"/>
          <p:cNvSpPr/>
          <p:nvPr/>
        </p:nvSpPr>
        <p:spPr>
          <a:xfrm>
            <a:off x="7315200" y="109728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11430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4F"/>
                </a:solidFill>
              </a:rPr>
              <a:t>0 h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Deuda técnica (Ruff 0; radon A 2,66)</a:t>
            </a:r>
            <a:endParaRPr lang="en-US" sz="1100" dirty="0"/>
          </a:p>
        </p:txBody>
      </p:sp>
      <p:sp>
        <p:nvSpPr>
          <p:cNvPr id="15" name="dato 1.500 llamadas verificadas"/>
          <p:cNvSpPr/>
          <p:nvPr/>
        </p:nvSpPr>
        <p:spPr>
          <a:xfrm>
            <a:off x="9601200" y="109728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0" y="11430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</a:rPr>
              <a:t>No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1.500 llamadas verificadas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2331720"/>
          <a:ext cx="7498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8183880" y="2377440"/>
            <a:ext cx="3611880" cy="365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</a:rPr>
              <a:t>Documentado: Linux, Xeon 2,1 GHz, 1 núcleo con taskset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</a:rPr>
              <a:t>Reproducido: Windows, 1 núcleo por afinidad, sin uvloop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</a:rPr>
              <a:t>100 llamadas: estable (3 corridas, 100 % &lt; 200 ms)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</a:rPr>
              <a:t>180 llamadas: inestable, solo 2 de 5 corridas &lt; 250 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</a:rPr>
              <a:t>Admisión reproducida: 250 ofrecidas → 180 aceptadas, 70 derivadas (p95 57 ms)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1958"/>
                </a:solidFill>
              </a:rPr>
              <a:t>7 · Evaluación financiera ERV (GBP, 36 meses, 12 %)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1280160"/>
                <a:gridCol w="1280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9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Optimista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9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9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Pesimista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95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CAPEX (800 HH + 10 %)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£49,867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£64,533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£113,667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OPEX mensual estable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£2,387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£3,164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£5,851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Réplicas en el pico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VAN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£453,908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£174,125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−£184,677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TIR anual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642,9 %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160,4 %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 existe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Payback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9,5 meses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15,5 meses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No recupera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B/C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5,02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2,17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0,27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6400800" y="109728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892040"/>
            <a:ext cx="11338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680"/>
                </a:solidFill>
              </a:rPr>
              <a:t>Datos oficiales: 800 HH, TTR −15 %, recargo 20 %. Supuestos académicos: tarifa £550/día, reserva 10 %, precios Azure UK South (Retail Prices API, 27-10-2026) con APIM Standard v2 y Service Bus Premium, mín. 2 réplicas, £60/puesto, 60 % de adopción, tasa 12 %. Modelo único en informe, Excel y presentación. Equilibrio: £27,60/puesto o 26,8 % de adopción.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1958"/>
                </a:solidFill>
              </a:rPr>
              <a:t>8 · Impacto y dictamen ejecutivo</a:t>
            </a:r>
            <a:endParaRPr lang="en-US" sz="3000" dirty="0"/>
          </a:p>
        </p:txBody>
      </p:sp>
      <p:sp>
        <p:nvSpPr>
          <p:cNvPr id="3" name="dato Ahorro del cliente por puesto y mes (TTR −15 %)"/>
          <p:cNvSpPr/>
          <p:nvPr/>
        </p:nvSpPr>
        <p:spPr>
          <a:xfrm>
            <a:off x="457200" y="10972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4F"/>
                </a:solidFill>
              </a:rPr>
              <a:t>£453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190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Ahorro del cliente por puesto y mes (TTR −15 %)</a:t>
            </a:r>
            <a:endParaRPr lang="en-US" sz="1100" dirty="0"/>
          </a:p>
        </p:txBody>
      </p:sp>
      <p:sp>
        <p:nvSpPr>
          <p:cNvPr id="6" name="dato Recargo de 20 % por puesto y mes"/>
          <p:cNvSpPr/>
          <p:nvPr/>
        </p:nvSpPr>
        <p:spPr>
          <a:xfrm>
            <a:off x="3337560" y="10972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143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2A86"/>
                </a:solidFill>
              </a:rPr>
              <a:t>£12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190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Recargo de 20 % por puesto y mes</a:t>
            </a:r>
            <a:endParaRPr lang="en-US" sz="1100" dirty="0"/>
          </a:p>
        </p:txBody>
      </p:sp>
      <p:sp>
        <p:nvSpPr>
          <p:cNvPr id="9" name="dato VAN Base (pesimista −£184,677)"/>
          <p:cNvSpPr/>
          <p:nvPr/>
        </p:nvSpPr>
        <p:spPr>
          <a:xfrm>
            <a:off x="6217920" y="10972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43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958"/>
                </a:solidFill>
              </a:rPr>
              <a:t>£174,125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7190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VAN Base (pesimista −£184,677)</a:t>
            </a:r>
            <a:endParaRPr lang="en-US" sz="1100" dirty="0"/>
          </a:p>
        </p:txBody>
      </p:sp>
      <p:sp>
        <p:nvSpPr>
          <p:cNvPr id="12" name="dato Inversión de la etapa 1"/>
          <p:cNvSpPr/>
          <p:nvPr/>
        </p:nvSpPr>
        <p:spPr>
          <a:xfrm>
            <a:off x="9098280" y="10972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98280" y="11430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A1F"/>
                </a:solidFill>
              </a:rPr>
              <a:t>£64,533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1719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80"/>
                </a:solidFill>
              </a:rPr>
              <a:t>Inversión de la etapa 1</a:t>
            </a:r>
            <a:endParaRPr lang="en-US" sz="1100" dirty="0"/>
          </a:p>
        </p:txBody>
      </p:sp>
      <p:sp>
        <p:nvSpPr>
          <p:cNvPr id="15" name="dictamen"/>
          <p:cNvSpPr/>
          <p:nvPr/>
        </p:nvSpPr>
        <p:spPr>
          <a:xfrm>
            <a:off x="457200" y="2377440"/>
            <a:ext cx="11338560" cy="1097280"/>
          </a:xfrm>
          <a:prstGeom prst="roundRect">
            <a:avLst>
              <a:gd name="adj" fmla="val 6667"/>
            </a:avLst>
          </a:prstGeom>
          <a:solidFill>
            <a:srgbClr val="3B1958"/>
          </a:solidFill>
          <a:ln w="12700">
            <a:solidFill>
              <a:srgbClr val="3B19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423160"/>
            <a:ext cx="10972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DICTAMEN: GO CONDICIONADO POR ETAPAS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B183"/>
                </a:solidFill>
              </a:rPr>
              <a:t>Financiar integración y piloto; aprobar la producción solo si se cumplen las cuatro compuertas.</a:t>
            </a:r>
            <a:endParaRPr lang="en-US" sz="1500" dirty="0"/>
          </a:p>
        </p:txBody>
      </p:sp>
      <p:sp>
        <p:nvSpPr>
          <p:cNvPr id="18" name="compuerta Carga en Azure"/>
          <p:cNvSpPr/>
          <p:nvPr/>
        </p:nvSpPr>
        <p:spPr>
          <a:xfrm>
            <a:off x="457200" y="37033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19" name="numero 1"/>
          <p:cNvSpPr/>
          <p:nvPr/>
        </p:nvSpPr>
        <p:spPr>
          <a:xfrm>
            <a:off x="594360" y="3840480"/>
            <a:ext cx="457200" cy="457200"/>
          </a:xfrm>
          <a:prstGeom prst="ellipse">
            <a:avLst/>
          </a:prstGeom>
          <a:solidFill>
            <a:srgbClr val="E07A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1958"/>
                </a:solidFill>
              </a:rPr>
              <a:t>Carga en Azure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389120"/>
            <a:ext cx="246888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1F2E"/>
                </a:solidFill>
              </a:rPr>
              <a:t>1.500 llamadas, p95 &lt; 250 ms</a:t>
            </a:r>
            <a:endParaRPr lang="en-US" sz="1300" dirty="0"/>
          </a:p>
        </p:txBody>
      </p:sp>
      <p:sp>
        <p:nvSpPr>
          <p:cNvPr id="23" name="compuerta Precisión"/>
          <p:cNvSpPr/>
          <p:nvPr/>
        </p:nvSpPr>
        <p:spPr>
          <a:xfrm>
            <a:off x="3310128" y="37033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24" name="numero 2"/>
          <p:cNvSpPr/>
          <p:nvPr/>
        </p:nvSpPr>
        <p:spPr>
          <a:xfrm>
            <a:off x="3447288" y="3840480"/>
            <a:ext cx="457200" cy="457200"/>
          </a:xfrm>
          <a:prstGeom prst="ellipse">
            <a:avLst/>
          </a:prstGeom>
          <a:solidFill>
            <a:srgbClr val="E07A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4728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995928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1958"/>
                </a:solidFill>
              </a:rPr>
              <a:t>Precisión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47288" y="4389120"/>
            <a:ext cx="246888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1F2E"/>
                </a:solidFill>
              </a:rPr>
              <a:t>Error ATE ≤ 0,05 con datos de Alloxentric</a:t>
            </a:r>
            <a:endParaRPr lang="en-US" sz="1300" dirty="0"/>
          </a:p>
        </p:txBody>
      </p:sp>
      <p:sp>
        <p:nvSpPr>
          <p:cNvPr id="28" name="compuerta Comercial"/>
          <p:cNvSpPr/>
          <p:nvPr/>
        </p:nvSpPr>
        <p:spPr>
          <a:xfrm>
            <a:off x="6163056" y="37033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29" name="numero 3"/>
          <p:cNvSpPr/>
          <p:nvPr/>
        </p:nvSpPr>
        <p:spPr>
          <a:xfrm>
            <a:off x="6300216" y="3840480"/>
            <a:ext cx="457200" cy="457200"/>
          </a:xfrm>
          <a:prstGeom prst="ellipse">
            <a:avLst/>
          </a:prstGeom>
          <a:solidFill>
            <a:srgbClr val="E07A1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0216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48856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1958"/>
                </a:solidFill>
              </a:rPr>
              <a:t>Comercial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300216" y="4389120"/>
            <a:ext cx="246888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1F2E"/>
                </a:solidFill>
              </a:rPr>
              <a:t>Adopción ≥ 27 % comprometida</a:t>
            </a:r>
            <a:endParaRPr lang="en-US" sz="1300" dirty="0"/>
          </a:p>
        </p:txBody>
      </p:sp>
      <p:sp>
        <p:nvSpPr>
          <p:cNvPr id="33" name="compuerta Datos personales"/>
          <p:cNvSpPr/>
          <p:nvPr/>
        </p:nvSpPr>
        <p:spPr>
          <a:xfrm>
            <a:off x="9015984" y="37033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5F2FA"/>
          </a:solidFill>
          <a:ln w="12700">
            <a:solidFill>
              <a:srgbClr val="F5F2FA"/>
            </a:solidFill>
            <a:prstDash val="solid"/>
          </a:ln>
        </p:spPr>
      </p:sp>
      <p:sp>
        <p:nvSpPr>
          <p:cNvPr id="34" name="numero 4"/>
          <p:cNvSpPr/>
          <p:nvPr/>
        </p:nvSpPr>
        <p:spPr>
          <a:xfrm>
            <a:off x="9153144" y="3840480"/>
            <a:ext cx="457200" cy="457200"/>
          </a:xfrm>
          <a:prstGeom prst="ellipse">
            <a:avLst/>
          </a:prstGeom>
          <a:solidFill>
            <a:srgbClr val="E07A1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53144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701784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1958"/>
                </a:solidFill>
              </a:rPr>
              <a:t>Datos personales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153144" y="4389120"/>
            <a:ext cx="246888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1F2E"/>
                </a:solidFill>
              </a:rPr>
              <a:t>DPIA UK GDPR aprobada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349240"/>
            <a:ext cx="113385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1F2E"/>
                </a:solidFill>
              </a:rPr>
              <a:t>Proyección: integración en meses 1–3, producción y recargo comercial desde el mes 4 en Reino Unido y Europa; diferenciación por IA causal explicable frente a modelos de sentimiento.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loxentric ERV">
  <a:themeElements>
    <a:clrScheme name="Alloxentric ERV">
      <a:dk1>
        <a:srgbClr val="1F1F2E"/>
      </a:dk1>
      <a:lt1>
        <a:srgbClr val="FFFFFF"/>
      </a:lt1>
      <a:dk2>
        <a:srgbClr val="3B1958"/>
      </a:dk2>
      <a:lt2>
        <a:srgbClr val="F5F2FA"/>
      </a:lt2>
      <a:accent1>
        <a:srgbClr val="5B2A86"/>
      </a:accent1>
      <a:accent2>
        <a:srgbClr val="E07A1F"/>
      </a:accent2>
      <a:accent3>
        <a:srgbClr val="0078D4"/>
      </a:accent3>
      <a:accent4>
        <a:srgbClr val="2E7D4F"/>
      </a:accent4>
      <a:accent5>
        <a:srgbClr val="C0392B"/>
      </a:accent5>
      <a:accent6>
        <a:srgbClr val="5F6B7B"/>
      </a:accent6>
      <a:hlink>
        <a:srgbClr val="0078D4"/>
      </a:hlink>
      <a:folHlink>
        <a:srgbClr val="5B2A86"/>
      </a:folHlink>
    </a:clrScheme>
    <a:fontScheme name="Alloxentric ERV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ERV — Vox-Causal AI en Alloxentric SpA</dc:title>
  <dc:subject>PptxGenJS Presentation</dc:subject>
  <dc:creator>Grupo N.º 1 — Sección 411</dc:creator>
  <cp:lastModifiedBy>Grupo N.º 1 — Sección 411</cp:lastModifiedBy>
  <cp:revision>1</cp:revision>
  <dcterms:created xsi:type="dcterms:W3CDTF">2026-10-27T21:03:29Z</dcterms:created>
  <dcterms:modified xsi:type="dcterms:W3CDTF">2026-10-27T21:03:29Z</dcterms:modified>
</cp:coreProperties>
</file>